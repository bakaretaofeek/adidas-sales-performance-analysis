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39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6BDE8-6E09-4C0B-B2DF-B15E9A37684F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A3871-C450-4E0A-B0F8-5197EDB684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3109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A3871-C450-4E0A-B0F8-5197EDB684CD}" type="slidenum">
              <a:rPr lang="en-NG" smtClean="0"/>
              <a:t>12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9421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0A53-5053-7C81-8B84-8513E8462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D228E-E451-9040-90B7-11495DFAA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73703-047E-66D9-5AA3-E9D71253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305E5-BB51-5470-FD19-6FEB186B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3A73D-4073-2442-9398-B5E30D3C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447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B275-C4AB-49C4-FF6A-65CA879A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4A9F1-BCAD-6B47-B8D5-F702C1C2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69E2-B238-A0AD-5412-0733B5B8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B073B-3A08-1C8F-CC19-C07F295C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6FE4D-00A0-006E-B1FF-06B2B683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4829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3D27-0F81-1B3D-D420-26148A46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7347D-453E-2FDE-4712-60E358BCF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4A2CA-A8EA-B051-462F-B06395D4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563BF-8A56-20B0-181E-776DBCF4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DC045-0346-0879-241C-23A9C5A7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7100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22D2-837C-EA72-4634-2F6BD859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6B729-9D73-459C-701A-62AD9493F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92B4A-BFE9-3F53-A5D9-5B2852C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8EA50-0AEC-F403-D8CA-3433790F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2EAB2-3090-7B87-38D5-29C2148F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B8408-C75C-8C71-92CF-88002450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809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BC77-7F11-8CEF-E93B-140255B1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F19A6-8F8E-99BE-97C7-236EF926C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2EDE7-BCC8-D7DF-2E24-EAE78021F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92646-699C-0264-06CC-113F6D284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BE6260-C962-A7BF-D6D4-D32FB66AE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A3D5F-2FF2-46D8-6E08-E52861B5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B9DBB-A49F-3E8E-55E8-1FD533A5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AEF7D-16FD-A69F-F8CE-99591932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9483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56DE-5997-A161-BE04-D734F97C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37DF4-B43A-A340-BF21-6675EA02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79D57-D4B8-9A22-6BC0-F848B364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1A8C1-D014-A0C7-7667-7A96D8DA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5429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878E3-F76D-F6D6-A968-EF04F9BC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BA2A4-643C-04CD-DBC1-206310C5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2E32B-143E-3372-5D5C-DEBA5E5C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1660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DC6D-02A8-95B3-9442-46DB60DE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8483-959E-1901-3A97-E5F330FA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80671-8B45-AB7B-B74A-D61A5FBCC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380BA-F612-9162-7C44-F80534F6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BA5FD-DA60-91AD-422A-D3E01386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C871B-0299-D8F3-1F27-8B243969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6934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6188-7FB4-E090-A171-070F14F1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E8474-28DD-A15B-402D-D73D5EEE2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9C4DA-C418-E34B-57D7-FF6F7BC52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2B93B-3B17-64A4-C051-35212267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991F0-1175-F04F-ECC0-4A3BC294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B9C59-4AB0-E4E1-BA63-46159921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3984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42F3-9E60-A7BC-1912-65EC01D1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518A6-3776-499B-CF1F-8DED1214F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03C89-1903-BE84-FA70-15CBE26C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94B46-7952-1113-5F70-40AE18854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E8BD5-12C0-5826-F291-F2520806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44679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06E10F-A8B6-7D54-F675-94303F879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FA449-762E-FA5C-00F9-C92078A97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AA000-1B14-970F-2D05-8FD6C174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341C-A050-CDA3-992A-97B17D86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E1790-EEC9-96D8-DD29-56C194DD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459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DEFED-999D-FDF7-56F6-BAA0536F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0DE93-7A2B-5F64-D88A-18FB2943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8ED04-BB76-9659-7A51-EC6AFF7B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1DFC5-33E6-493B-9F84-5B8D989043C9}" type="datetimeFigureOut">
              <a:rPr lang="en-NG" smtClean="0"/>
              <a:t>29/06/2026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A5104-65A7-A4AF-B9F8-C18E74D96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C7C1-AD26-BCE9-91EB-4FA4CE29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C2DD9-0735-4010-BF2B-0856776A979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8255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FEB4E-87A2-8569-92A0-5CDB6F199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9417" y="1122363"/>
            <a:ext cx="7658581" cy="23876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         </a:t>
            </a:r>
            <a:r>
              <a:rPr lang="en-US" sz="4800" b="1" dirty="0">
                <a:solidFill>
                  <a:srgbClr val="12239E"/>
                </a:solidFill>
              </a:rPr>
              <a:t>Adidas Sales Performance Analysis</a:t>
            </a:r>
            <a:endParaRPr lang="en-NG" sz="4800" b="1" dirty="0">
              <a:solidFill>
                <a:srgbClr val="12239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35776D-1A0E-E9C3-3655-939306D7F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476" y="1808797"/>
            <a:ext cx="1218818" cy="1218818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542FDF1-5180-FE79-7774-079AEB4D7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1138"/>
            <a:ext cx="9144000" cy="1684499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>
                <a:solidFill>
                  <a:srgbClr val="12239E"/>
                </a:solidFill>
              </a:rPr>
              <a:t>Prepared by: </a:t>
            </a:r>
            <a:r>
              <a:rPr lang="en-US" b="1" dirty="0" err="1">
                <a:solidFill>
                  <a:srgbClr val="12239E"/>
                </a:solidFill>
              </a:rPr>
              <a:t>Oxygenius</a:t>
            </a:r>
            <a:r>
              <a:rPr lang="en-US" b="1" dirty="0">
                <a:solidFill>
                  <a:srgbClr val="12239E"/>
                </a:solidFill>
              </a:rPr>
              <a:t>’ Consults Ltd.</a:t>
            </a:r>
          </a:p>
          <a:p>
            <a:endParaRPr lang="en-US" b="1" dirty="0">
              <a:solidFill>
                <a:srgbClr val="12239E"/>
              </a:solidFill>
            </a:endParaRPr>
          </a:p>
          <a:p>
            <a:r>
              <a:rPr lang="en-US" b="1" dirty="0">
                <a:solidFill>
                  <a:srgbClr val="12239E"/>
                </a:solidFill>
              </a:rPr>
              <a:t>22</a:t>
            </a:r>
            <a:r>
              <a:rPr lang="en-US" b="1" baseline="30000" dirty="0">
                <a:solidFill>
                  <a:srgbClr val="12239E"/>
                </a:solidFill>
              </a:rPr>
              <a:t>nd</a:t>
            </a:r>
            <a:r>
              <a:rPr lang="en-US" b="1" dirty="0">
                <a:solidFill>
                  <a:srgbClr val="12239E"/>
                </a:solidFill>
              </a:rPr>
              <a:t> June, 2026. </a:t>
            </a:r>
            <a:endParaRPr lang="en-NG" b="1" dirty="0">
              <a:solidFill>
                <a:srgbClr val="1223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392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36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24" decel="50000">
                                          <p:stCondLst>
                                            <p:cond delay="100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33E9-6AD0-0A18-BE06-2B8CF5A6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  <a:endParaRPr lang="en-NG" b="1" dirty="0">
              <a:solidFill>
                <a:srgbClr val="1223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1CC5-58C2-22D3-CB55-2F70104AF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2239E"/>
                </a:solidFill>
              </a:rPr>
              <a:t>Adidas generated $120M in revenue, sold over 2M units, and achieved $33M in operating profit with a 27.63% profit margin.</a:t>
            </a:r>
          </a:p>
          <a:p>
            <a:pPr>
              <a:lnSpc>
                <a:spcPct val="100000"/>
              </a:lnSpc>
            </a:pPr>
            <a:r>
              <a:rPr lang="en-NG" sz="2400" dirty="0">
                <a:solidFill>
                  <a:srgbClr val="12239E"/>
                </a:solidFill>
              </a:rPr>
              <a:t>Men's Street Footwear is the largest revenue-generating product. </a:t>
            </a:r>
            <a:endParaRPr lang="en-US" sz="2400" dirty="0">
              <a:solidFill>
                <a:srgbClr val="12239E"/>
              </a:solidFill>
            </a:endParaRPr>
          </a:p>
          <a:p>
            <a:pPr>
              <a:lnSpc>
                <a:spcPct val="100000"/>
              </a:lnSpc>
            </a:pPr>
            <a:r>
              <a:rPr lang="en-NG" sz="2400" dirty="0">
                <a:solidFill>
                  <a:srgbClr val="12239E"/>
                </a:solidFill>
              </a:rPr>
              <a:t>West Gear is the top retailer by revenue. </a:t>
            </a:r>
            <a:endParaRPr lang="en-US" sz="2400" dirty="0">
              <a:solidFill>
                <a:srgbClr val="12239E"/>
              </a:solidFill>
            </a:endParaRPr>
          </a:p>
          <a:p>
            <a:pPr>
              <a:lnSpc>
                <a:spcPct val="100000"/>
              </a:lnSpc>
            </a:pPr>
            <a:r>
              <a:rPr lang="en-NG" sz="2400" dirty="0">
                <a:solidFill>
                  <a:srgbClr val="12239E"/>
                </a:solidFill>
              </a:rPr>
              <a:t>The West Region generate</a:t>
            </a:r>
            <a:r>
              <a:rPr lang="en-US" sz="2400" dirty="0">
                <a:solidFill>
                  <a:srgbClr val="12239E"/>
                </a:solidFill>
              </a:rPr>
              <a:t>d</a:t>
            </a:r>
            <a:r>
              <a:rPr lang="en-NG" sz="2400" dirty="0">
                <a:solidFill>
                  <a:srgbClr val="12239E"/>
                </a:solidFill>
              </a:rPr>
              <a:t> the highest revenue. </a:t>
            </a:r>
            <a:endParaRPr lang="en-US" sz="2400" dirty="0">
              <a:solidFill>
                <a:srgbClr val="12239E"/>
              </a:solidFill>
            </a:endParaRPr>
          </a:p>
          <a:p>
            <a:pPr>
              <a:lnSpc>
                <a:spcPct val="100000"/>
              </a:lnSpc>
            </a:pPr>
            <a:r>
              <a:rPr lang="en-NG" sz="2400" dirty="0">
                <a:solidFill>
                  <a:srgbClr val="12239E"/>
                </a:solidFill>
              </a:rPr>
              <a:t>In-store sales produce</a:t>
            </a:r>
            <a:r>
              <a:rPr lang="en-US" sz="2400" dirty="0">
                <a:solidFill>
                  <a:srgbClr val="12239E"/>
                </a:solidFill>
              </a:rPr>
              <a:t>d</a:t>
            </a:r>
            <a:r>
              <a:rPr lang="en-NG" sz="2400" dirty="0">
                <a:solidFill>
                  <a:srgbClr val="12239E"/>
                </a:solidFill>
              </a:rPr>
              <a:t> the highest profit margin. </a:t>
            </a:r>
            <a:endParaRPr lang="en-US" sz="2400" dirty="0">
              <a:solidFill>
                <a:srgbClr val="12239E"/>
              </a:solidFill>
            </a:endParaRPr>
          </a:p>
          <a:p>
            <a:pPr>
              <a:lnSpc>
                <a:spcPct val="100000"/>
              </a:lnSpc>
            </a:pPr>
            <a:r>
              <a:rPr lang="en-NG" sz="2400" dirty="0">
                <a:solidFill>
                  <a:srgbClr val="12239E"/>
                </a:solidFill>
              </a:rPr>
              <a:t>Online sales generate</a:t>
            </a:r>
            <a:r>
              <a:rPr lang="en-US" sz="2400" dirty="0">
                <a:solidFill>
                  <a:srgbClr val="12239E"/>
                </a:solidFill>
              </a:rPr>
              <a:t>d</a:t>
            </a:r>
            <a:r>
              <a:rPr lang="en-NG" sz="2400" dirty="0">
                <a:solidFill>
                  <a:srgbClr val="12239E"/>
                </a:solidFill>
              </a:rPr>
              <a:t> the highest revenue but the lowest profitability.</a:t>
            </a:r>
            <a:endParaRPr lang="en-US" sz="2400" dirty="0">
              <a:solidFill>
                <a:srgbClr val="12239E"/>
              </a:solidFill>
            </a:endParaRPr>
          </a:p>
          <a:p>
            <a:pPr>
              <a:lnSpc>
                <a:spcPct val="100000"/>
              </a:lnSpc>
            </a:pPr>
            <a:r>
              <a:rPr lang="en-NG" sz="2400" dirty="0">
                <a:solidFill>
                  <a:srgbClr val="12239E"/>
                </a:solidFill>
              </a:rPr>
              <a:t>Revenue grew significantly from 2020 to 2021, indicating strong market expansion.</a:t>
            </a:r>
            <a:endParaRPr lang="en-US" sz="2400" dirty="0">
              <a:solidFill>
                <a:srgbClr val="12239E"/>
              </a:solidFill>
            </a:endParaRPr>
          </a:p>
          <a:p>
            <a:endParaRPr lang="en-NG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49959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5AC1-A225-9BC2-1F2C-80698051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800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Business Objectives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8D3E0-7EB9-8518-6775-E5BFC3895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46752"/>
            <a:ext cx="5181600" cy="4412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Revenue &amp; Growth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What are the key drivers of Adidas' revenue and business growth? </a:t>
            </a:r>
          </a:p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Product Performance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Which product categories contribute the most to revenue and profitability? </a:t>
            </a:r>
          </a:p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Retailer Performance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Which retail partners generate the highest sales and profit for the business? </a:t>
            </a:r>
          </a:p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Regional Analysis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Which regions represent Adidas' strongest and weakest markets?</a:t>
            </a:r>
          </a:p>
          <a:p>
            <a:pPr marL="0" indent="0">
              <a:buNone/>
            </a:pPr>
            <a:endParaRPr lang="en-NG" sz="1600" dirty="0">
              <a:solidFill>
                <a:srgbClr val="12239E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EA330-9611-CF82-8D67-76A264DEF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6753"/>
            <a:ext cx="5181600" cy="4412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Sales Channel Performance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Which sales channels (Online, In-Store, Outlet) deliver</a:t>
            </a:r>
            <a:r>
              <a:rPr lang="en-US" sz="1800" dirty="0">
                <a:solidFill>
                  <a:srgbClr val="12239E"/>
                </a:solidFill>
              </a:rPr>
              <a:t>ed</a:t>
            </a:r>
            <a:r>
              <a:rPr lang="en-NG" sz="1800" dirty="0">
                <a:solidFill>
                  <a:srgbClr val="12239E"/>
                </a:solidFill>
              </a:rPr>
              <a:t> the best performance and profitability? </a:t>
            </a:r>
          </a:p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Profitability Analysis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What factors are driving or limiting profit margins across the business? </a:t>
            </a:r>
          </a:p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Trend Analysis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What sales trends and seasonal patterns can be leveraged for future growth? </a:t>
            </a:r>
          </a:p>
          <a:p>
            <a:pPr marL="0" indent="0">
              <a:buNone/>
            </a:pPr>
            <a:r>
              <a:rPr lang="en-NG" sz="1800" b="1" dirty="0">
                <a:solidFill>
                  <a:srgbClr val="12239E"/>
                </a:solidFill>
              </a:rPr>
              <a:t>Strategic Opportunities</a:t>
            </a:r>
          </a:p>
          <a:p>
            <a:r>
              <a:rPr lang="en-NG" sz="1800" dirty="0">
                <a:solidFill>
                  <a:srgbClr val="12239E"/>
                </a:solidFill>
              </a:rPr>
              <a:t>Where should Adidas focus investments to maximize revenue, profitability, and market expansion?</a:t>
            </a:r>
          </a:p>
          <a:p>
            <a:endParaRPr lang="en-NG" sz="2000" dirty="0">
              <a:solidFill>
                <a:srgbClr val="12239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1C11F-B3D8-39FE-EEC4-FF01BB71FA35}"/>
              </a:ext>
            </a:extLst>
          </p:cNvPr>
          <p:cNvSpPr txBox="1"/>
          <p:nvPr/>
        </p:nvSpPr>
        <p:spPr>
          <a:xfrm>
            <a:off x="838200" y="1331089"/>
            <a:ext cx="10515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NG" sz="2000" dirty="0">
                <a:solidFill>
                  <a:srgbClr val="12239E"/>
                </a:solidFill>
              </a:rPr>
              <a:t>The primary goal of this analysis is to evaluate Adidas' sales performance across products, retailers, regions, and sales channels enabling Adidas management to make data-driven decisions that improve operational efficiency, maximize profitability, and support sustainable business growth</a:t>
            </a:r>
            <a:r>
              <a:rPr lang="en-US" sz="2000" dirty="0">
                <a:solidFill>
                  <a:srgbClr val="12239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1399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F084-1DAB-8D09-A4FF-21CC43F1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KPI Overview</a:t>
            </a:r>
            <a:endParaRPr lang="en-NG" b="1" dirty="0">
              <a:solidFill>
                <a:srgbClr val="12239E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D2EC9B-8766-0B51-D91A-4F79FA839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298" y="4875080"/>
            <a:ext cx="2322576" cy="13959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159937-E82D-BCFC-0F1A-04D7054FA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674" y="1666556"/>
            <a:ext cx="2401824" cy="14874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1B299B-9C86-1A11-B18B-60906A518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174" y="4859840"/>
            <a:ext cx="2377440" cy="14264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410C14-A00F-EC83-79E1-6E30648F98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858" y="3234242"/>
            <a:ext cx="2505456" cy="15605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14375BE-2929-67D3-FE8B-A1CEE8A69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310" y="3258626"/>
            <a:ext cx="2596896" cy="151180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B6992D4-D409-1E4D-8AFC-0B7DE0B627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310" y="1642172"/>
            <a:ext cx="2487168" cy="153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31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6385-1FA2-8E29-78C5-609031A2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996"/>
            <a:ext cx="10515600" cy="10477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12239E"/>
                </a:solidFill>
              </a:rPr>
              <a:t>Product Performance Analysis</a:t>
            </a:r>
            <a:endParaRPr lang="en-NG" sz="4000" b="1" dirty="0">
              <a:solidFill>
                <a:srgbClr val="12239E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E6EAF-85DF-4229-A946-CA6867BA9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592" y="1061821"/>
            <a:ext cx="9752816" cy="57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42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3E3387-534C-6346-B8D8-3A5980FB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Insights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02840-9136-A70E-4BA0-8BCBF717C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G" dirty="0">
                <a:solidFill>
                  <a:srgbClr val="12239E"/>
                </a:solidFill>
              </a:rPr>
              <a:t>Men's Street Footwear generated 23.1% of total company revenue, making it Adidas' strongest product category.</a:t>
            </a:r>
          </a:p>
          <a:p>
            <a:r>
              <a:rPr lang="en-NG" dirty="0">
                <a:solidFill>
                  <a:srgbClr val="12239E"/>
                </a:solidFill>
              </a:rPr>
              <a:t>The top three product categories</a:t>
            </a:r>
            <a:r>
              <a:rPr lang="en-US" dirty="0">
                <a:solidFill>
                  <a:srgbClr val="12239E"/>
                </a:solidFill>
              </a:rPr>
              <a:t>(</a:t>
            </a:r>
            <a:r>
              <a:rPr lang="en-NG" dirty="0">
                <a:solidFill>
                  <a:srgbClr val="12239E"/>
                </a:solidFill>
              </a:rPr>
              <a:t>Men's Street Footwear</a:t>
            </a:r>
            <a:r>
              <a:rPr lang="en-US" dirty="0">
                <a:solidFill>
                  <a:srgbClr val="12239E"/>
                </a:solidFill>
              </a:rPr>
              <a:t>, Women Apparel and Men Athletic Footwear) </a:t>
            </a:r>
            <a:r>
              <a:rPr lang="en-NG" dirty="0">
                <a:solidFill>
                  <a:srgbClr val="12239E"/>
                </a:solidFill>
              </a:rPr>
              <a:t>account for approximately 60% of total revenue, indicating revenue concentration around a few core product lines.</a:t>
            </a:r>
          </a:p>
          <a:p>
            <a:r>
              <a:rPr lang="en-NG" dirty="0">
                <a:solidFill>
                  <a:srgbClr val="12239E"/>
                </a:solidFill>
              </a:rPr>
              <a:t>Women's Athletic Footwear contributes the least revenue and presents an opportunity for targeted marketing campaigns.</a:t>
            </a:r>
          </a:p>
          <a:p>
            <a:r>
              <a:rPr lang="en-NG" dirty="0">
                <a:solidFill>
                  <a:srgbClr val="12239E"/>
                </a:solidFill>
              </a:rPr>
              <a:t>Men's Street Footwear is both the</a:t>
            </a:r>
            <a:r>
              <a:rPr lang="en-US" dirty="0">
                <a:solidFill>
                  <a:srgbClr val="12239E"/>
                </a:solidFill>
              </a:rPr>
              <a:t> </a:t>
            </a:r>
            <a:r>
              <a:rPr lang="en-NG" dirty="0">
                <a:solidFill>
                  <a:srgbClr val="12239E"/>
                </a:solidFill>
              </a:rPr>
              <a:t>Highest revenue </a:t>
            </a:r>
            <a:r>
              <a:rPr lang="en-US" dirty="0">
                <a:solidFill>
                  <a:srgbClr val="12239E"/>
                </a:solidFill>
              </a:rPr>
              <a:t>and</a:t>
            </a:r>
            <a:r>
              <a:rPr lang="en-NG" dirty="0">
                <a:solidFill>
                  <a:srgbClr val="12239E"/>
                </a:solidFill>
              </a:rPr>
              <a:t> Highest profit-generating product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86961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3E02D5-8F26-2EF2-1647-76A9F7FA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782"/>
            <a:ext cx="10515600" cy="95226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12239E"/>
                </a:solidFill>
              </a:rPr>
              <a:t>Retailer Performance Analysis</a:t>
            </a:r>
            <a:endParaRPr lang="en-NG" sz="4000" b="1" dirty="0">
              <a:solidFill>
                <a:srgbClr val="12239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6B191-37D3-6A38-5E8F-0937512ED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35" y="1169043"/>
            <a:ext cx="9869530" cy="56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2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8173-AD27-89D8-1D69-884E710B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Insights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AF30-BC77-CF4F-7630-4E299AC3A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G" dirty="0">
                <a:solidFill>
                  <a:srgbClr val="12239E"/>
                </a:solidFill>
              </a:rPr>
              <a:t>West Gear contributes approximately 27% of total revenue, making it Adidas' largest retail partner.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West Gear and Foot Locker together contribute over 50% of total sales revenue, creating retailer concentration risk.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Although West Gear generates the highest revenue, Sports Direct is the most profitable retailer.</a:t>
            </a:r>
          </a:p>
          <a:p>
            <a:endParaRPr lang="en-NG" dirty="0">
              <a:solidFill>
                <a:srgbClr val="1223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043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BA8E-060A-1369-8A73-7E08C07E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Regional Performance Insights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29718-305E-4BB4-4F65-C370FD74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G" dirty="0">
                <a:solidFill>
                  <a:srgbClr val="12239E"/>
                </a:solidFill>
              </a:rPr>
              <a:t>The West region contributes over 30% of company revenue, making it Adidas' most important market.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The Midwest region generates the lowest revenue but achieves the highest profit margin.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The West region is Adidas' largest market but also its least efficient region in terms of profitability.</a:t>
            </a:r>
            <a:endParaRPr lang="en-US" dirty="0">
              <a:solidFill>
                <a:srgbClr val="1223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346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6984-1FF0-2D83-D7D8-5303C8EE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Sales Method Performance Insights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1BE79-3246-9949-F746-E98324458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G" dirty="0">
                <a:solidFill>
                  <a:srgbClr val="12239E"/>
                </a:solidFill>
              </a:rPr>
              <a:t>Online sales generate the highest revenue and account for approximately 37.5% of total sales.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Although Online sales generate the highest revenue, they produce the lowest profit margin.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In-store sales generate the strongest profitability despite lower revenue.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New York and California remain Adidas' most valuable state markets and should remain priority investment locations.</a:t>
            </a:r>
            <a:endParaRPr lang="en-US" dirty="0">
              <a:solidFill>
                <a:srgbClr val="1223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16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0ED6-0138-6B30-8C02-1AB048DB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Trend Analysis Insights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D741-ED9F-CC76-3754-9EC120D7A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G" dirty="0">
                <a:solidFill>
                  <a:srgbClr val="12239E"/>
                </a:solidFill>
              </a:rPr>
              <a:t>Revenue increased by approximately 297% from 2020 to 2021, indicating exceptional growth.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Revenue showed a steady upward trend throughout 2021, with each quarter outperforming the corresponding periods in 2020.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dirty="0">
                <a:solidFill>
                  <a:srgbClr val="12239E"/>
                </a:solidFill>
              </a:rPr>
              <a:t>Q3 2021 was the strongest quarter, generating over $28M in revenue.</a:t>
            </a:r>
          </a:p>
          <a:p>
            <a:pPr marL="0" indent="0">
              <a:buNone/>
            </a:pPr>
            <a:endParaRPr lang="en-NG" dirty="0">
              <a:solidFill>
                <a:srgbClr val="1223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78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BA3A-74A0-F3D6-E941-DB6EB672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12239E"/>
                </a:solidFill>
              </a:rPr>
              <a:t>Strategic Recommendations</a:t>
            </a:r>
            <a:endParaRPr lang="en-NG" b="1" dirty="0">
              <a:solidFill>
                <a:srgbClr val="12239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32768-200D-4E92-B865-FE0749F13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NG" b="1" dirty="0">
                <a:solidFill>
                  <a:srgbClr val="12239E"/>
                </a:solidFill>
              </a:rPr>
              <a:t>Expand High-Performing Product Lines</a:t>
            </a:r>
            <a:r>
              <a:rPr lang="en-US" b="1" dirty="0">
                <a:solidFill>
                  <a:srgbClr val="12239E"/>
                </a:solidFill>
              </a:rPr>
              <a:t>: </a:t>
            </a:r>
            <a:r>
              <a:rPr lang="en-NG" dirty="0">
                <a:solidFill>
                  <a:srgbClr val="12239E"/>
                </a:solidFill>
              </a:rPr>
              <a:t>Focus investment on</a:t>
            </a:r>
            <a:r>
              <a:rPr lang="en-US" dirty="0">
                <a:solidFill>
                  <a:srgbClr val="12239E"/>
                </a:solidFill>
              </a:rPr>
              <a:t> </a:t>
            </a:r>
            <a:r>
              <a:rPr lang="en-NG" dirty="0">
                <a:solidFill>
                  <a:srgbClr val="12239E"/>
                </a:solidFill>
              </a:rPr>
              <a:t>Men's Street Footwear </a:t>
            </a:r>
            <a:r>
              <a:rPr lang="en-US" dirty="0">
                <a:solidFill>
                  <a:srgbClr val="12239E"/>
                </a:solidFill>
              </a:rPr>
              <a:t>, </a:t>
            </a:r>
            <a:r>
              <a:rPr lang="en-NG" dirty="0">
                <a:solidFill>
                  <a:srgbClr val="12239E"/>
                </a:solidFill>
              </a:rPr>
              <a:t>Women's Apparel </a:t>
            </a:r>
            <a:r>
              <a:rPr lang="en-US" dirty="0">
                <a:solidFill>
                  <a:srgbClr val="12239E"/>
                </a:solidFill>
              </a:rPr>
              <a:t> and </a:t>
            </a:r>
            <a:r>
              <a:rPr lang="en-NG" dirty="0">
                <a:solidFill>
                  <a:srgbClr val="12239E"/>
                </a:solidFill>
              </a:rPr>
              <a:t>Men's Athletic Footwear</a:t>
            </a:r>
            <a:r>
              <a:rPr lang="en-US" dirty="0">
                <a:solidFill>
                  <a:srgbClr val="12239E"/>
                </a:solidFill>
              </a:rPr>
              <a:t>.</a:t>
            </a:r>
            <a:endParaRPr lang="en-NG" dirty="0">
              <a:solidFill>
                <a:srgbClr val="12239E"/>
              </a:solidFill>
            </a:endParaRPr>
          </a:p>
          <a:p>
            <a:r>
              <a:rPr lang="en-NG" b="1" dirty="0">
                <a:solidFill>
                  <a:srgbClr val="12239E"/>
                </a:solidFill>
              </a:rPr>
              <a:t> Improve Online Profitability</a:t>
            </a:r>
            <a:r>
              <a:rPr lang="en-US" b="1" dirty="0">
                <a:solidFill>
                  <a:srgbClr val="12239E"/>
                </a:solidFill>
              </a:rPr>
              <a:t>: </a:t>
            </a:r>
            <a:r>
              <a:rPr lang="en-US" dirty="0">
                <a:solidFill>
                  <a:srgbClr val="12239E"/>
                </a:solidFill>
              </a:rPr>
              <a:t>r</a:t>
            </a:r>
            <a:r>
              <a:rPr lang="en-NG" dirty="0">
                <a:solidFill>
                  <a:srgbClr val="12239E"/>
                </a:solidFill>
              </a:rPr>
              <a:t>educ</a:t>
            </a:r>
            <a:r>
              <a:rPr lang="en-US" dirty="0">
                <a:solidFill>
                  <a:srgbClr val="12239E"/>
                </a:solidFill>
              </a:rPr>
              <a:t>e excessive </a:t>
            </a:r>
            <a:r>
              <a:rPr lang="en-NG" dirty="0">
                <a:solidFill>
                  <a:srgbClr val="12239E"/>
                </a:solidFill>
              </a:rPr>
              <a:t>discounts</a:t>
            </a:r>
            <a:r>
              <a:rPr lang="en-US" dirty="0">
                <a:solidFill>
                  <a:srgbClr val="12239E"/>
                </a:solidFill>
              </a:rPr>
              <a:t>, </a:t>
            </a:r>
            <a:r>
              <a:rPr lang="en-NG" dirty="0">
                <a:solidFill>
                  <a:srgbClr val="12239E"/>
                </a:solidFill>
              </a:rPr>
              <a:t>Logistics costs while optimizing pricing</a:t>
            </a:r>
            <a:r>
              <a:rPr lang="en-US" dirty="0">
                <a:solidFill>
                  <a:srgbClr val="12239E"/>
                </a:solidFill>
              </a:rPr>
              <a:t>.</a:t>
            </a:r>
          </a:p>
          <a:p>
            <a:r>
              <a:rPr lang="en-NG" b="1" dirty="0">
                <a:solidFill>
                  <a:srgbClr val="12239E"/>
                </a:solidFill>
              </a:rPr>
              <a:t>Strengthen Retail Partnerships</a:t>
            </a:r>
            <a:r>
              <a:rPr lang="en-US" b="1" dirty="0">
                <a:solidFill>
                  <a:srgbClr val="12239E"/>
                </a:solidFill>
              </a:rPr>
              <a:t>: </a:t>
            </a:r>
            <a:r>
              <a:rPr lang="en-US" dirty="0">
                <a:solidFill>
                  <a:srgbClr val="12239E"/>
                </a:solidFill>
              </a:rPr>
              <a:t>p</a:t>
            </a:r>
            <a:r>
              <a:rPr lang="en-NG" dirty="0" err="1">
                <a:solidFill>
                  <a:srgbClr val="12239E"/>
                </a:solidFill>
              </a:rPr>
              <a:t>rioriti</a:t>
            </a:r>
            <a:r>
              <a:rPr lang="en-US" dirty="0">
                <a:solidFill>
                  <a:srgbClr val="12239E"/>
                </a:solidFill>
              </a:rPr>
              <a:t>ze </a:t>
            </a:r>
            <a:r>
              <a:rPr lang="en-NG" dirty="0">
                <a:solidFill>
                  <a:srgbClr val="12239E"/>
                </a:solidFill>
              </a:rPr>
              <a:t>West Gear</a:t>
            </a:r>
            <a:r>
              <a:rPr lang="en-US" dirty="0">
                <a:solidFill>
                  <a:srgbClr val="12239E"/>
                </a:solidFill>
              </a:rPr>
              <a:t>, </a:t>
            </a:r>
            <a:r>
              <a:rPr lang="en-NG" dirty="0">
                <a:solidFill>
                  <a:srgbClr val="12239E"/>
                </a:solidFill>
              </a:rPr>
              <a:t>Foot Locker</a:t>
            </a:r>
            <a:r>
              <a:rPr lang="en-US" dirty="0">
                <a:solidFill>
                  <a:srgbClr val="12239E"/>
                </a:solidFill>
              </a:rPr>
              <a:t>, </a:t>
            </a:r>
            <a:r>
              <a:rPr lang="en-NG" dirty="0">
                <a:solidFill>
                  <a:srgbClr val="12239E"/>
                </a:solidFill>
              </a:rPr>
              <a:t>Sports Direct </a:t>
            </a:r>
            <a:r>
              <a:rPr lang="en-US" dirty="0">
                <a:solidFill>
                  <a:srgbClr val="12239E"/>
                </a:solidFill>
              </a:rPr>
              <a:t> </a:t>
            </a:r>
            <a:r>
              <a:rPr lang="en-NG" dirty="0">
                <a:solidFill>
                  <a:srgbClr val="12239E"/>
                </a:solidFill>
              </a:rPr>
              <a:t>through joint marketing initiatives.</a:t>
            </a:r>
            <a:endParaRPr lang="en-US" dirty="0">
              <a:solidFill>
                <a:srgbClr val="12239E"/>
              </a:solidFill>
            </a:endParaRPr>
          </a:p>
          <a:p>
            <a:r>
              <a:rPr lang="en-NG" b="1" dirty="0">
                <a:solidFill>
                  <a:srgbClr val="12239E"/>
                </a:solidFill>
              </a:rPr>
              <a:t>Replicate Midwest Efficiency</a:t>
            </a:r>
            <a:r>
              <a:rPr lang="en-US" b="1" dirty="0">
                <a:solidFill>
                  <a:srgbClr val="12239E"/>
                </a:solidFill>
              </a:rPr>
              <a:t>: </a:t>
            </a:r>
            <a:r>
              <a:rPr lang="en-NG" dirty="0">
                <a:solidFill>
                  <a:srgbClr val="12239E"/>
                </a:solidFill>
              </a:rPr>
              <a:t>The Midwest achieves the highest profit margin. Identify best practices and apply them to other regions.</a:t>
            </a:r>
          </a:p>
          <a:p>
            <a:r>
              <a:rPr lang="en-NG" b="1" dirty="0">
                <a:solidFill>
                  <a:srgbClr val="12239E"/>
                </a:solidFill>
              </a:rPr>
              <a:t>Increase Focus on High-Growth Markets</a:t>
            </a:r>
            <a:r>
              <a:rPr lang="en-US" b="1" dirty="0">
                <a:solidFill>
                  <a:srgbClr val="12239E"/>
                </a:solidFill>
              </a:rPr>
              <a:t>: </a:t>
            </a:r>
            <a:r>
              <a:rPr lang="en-NG" dirty="0">
                <a:solidFill>
                  <a:srgbClr val="12239E"/>
                </a:solidFill>
              </a:rPr>
              <a:t>Expand investment in:</a:t>
            </a:r>
            <a:r>
              <a:rPr lang="en-US" dirty="0">
                <a:solidFill>
                  <a:srgbClr val="12239E"/>
                </a:solidFill>
              </a:rPr>
              <a:t> </a:t>
            </a:r>
            <a:r>
              <a:rPr lang="en-NG" dirty="0">
                <a:solidFill>
                  <a:srgbClr val="12239E"/>
                </a:solidFill>
              </a:rPr>
              <a:t>New York</a:t>
            </a:r>
            <a:r>
              <a:rPr lang="en-US" dirty="0">
                <a:solidFill>
                  <a:srgbClr val="12239E"/>
                </a:solidFill>
              </a:rPr>
              <a:t>,</a:t>
            </a:r>
            <a:r>
              <a:rPr lang="en-NG" dirty="0">
                <a:solidFill>
                  <a:srgbClr val="12239E"/>
                </a:solidFill>
              </a:rPr>
              <a:t> California</a:t>
            </a:r>
            <a:r>
              <a:rPr lang="en-US" dirty="0">
                <a:solidFill>
                  <a:srgbClr val="12239E"/>
                </a:solidFill>
              </a:rPr>
              <a:t>,</a:t>
            </a:r>
            <a:r>
              <a:rPr lang="en-NG" dirty="0">
                <a:solidFill>
                  <a:srgbClr val="12239E"/>
                </a:solidFill>
              </a:rPr>
              <a:t> Florida </a:t>
            </a:r>
            <a:r>
              <a:rPr lang="en-US" dirty="0">
                <a:solidFill>
                  <a:srgbClr val="12239E"/>
                </a:solidFill>
              </a:rPr>
              <a:t>and </a:t>
            </a:r>
            <a:r>
              <a:rPr lang="en-NG" dirty="0">
                <a:solidFill>
                  <a:srgbClr val="12239E"/>
                </a:solidFill>
              </a:rPr>
              <a:t>Texas</a:t>
            </a:r>
            <a:r>
              <a:rPr lang="en-US" dirty="0">
                <a:solidFill>
                  <a:srgbClr val="12239E"/>
                </a:solidFill>
              </a:rPr>
              <a:t>.</a:t>
            </a:r>
            <a:r>
              <a:rPr lang="en-NG" dirty="0">
                <a:solidFill>
                  <a:srgbClr val="12239E"/>
                </a:solidFill>
              </a:rPr>
              <a:t> </a:t>
            </a:r>
          </a:p>
          <a:p>
            <a:r>
              <a:rPr lang="en-NG" b="1" dirty="0">
                <a:solidFill>
                  <a:srgbClr val="12239E"/>
                </a:solidFill>
              </a:rPr>
              <a:t>Leverage Seasonal Trends</a:t>
            </a:r>
            <a:r>
              <a:rPr lang="en-US" b="1" dirty="0">
                <a:solidFill>
                  <a:srgbClr val="12239E"/>
                </a:solidFill>
              </a:rPr>
              <a:t>: </a:t>
            </a:r>
            <a:r>
              <a:rPr lang="en-NG" dirty="0">
                <a:solidFill>
                  <a:srgbClr val="12239E"/>
                </a:solidFill>
              </a:rPr>
              <a:t>Use Q3 performance patterns to improve forecasting, inventory planning, and promotional scheduling</a:t>
            </a:r>
            <a:r>
              <a:rPr lang="en-US" dirty="0">
                <a:solidFill>
                  <a:srgbClr val="12239E"/>
                </a:solidFill>
              </a:rPr>
              <a:t>.</a:t>
            </a:r>
            <a:endParaRPr lang="en-NG" dirty="0">
              <a:solidFill>
                <a:srgbClr val="12239E"/>
              </a:solidFill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353017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12F46C-C7A3-B076-557D-C9BBB17ACA63}"/>
              </a:ext>
            </a:extLst>
          </p:cNvPr>
          <p:cNvSpPr txBox="1"/>
          <p:nvPr/>
        </p:nvSpPr>
        <p:spPr>
          <a:xfrm>
            <a:off x="1016000" y="2362200"/>
            <a:ext cx="10236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12239E"/>
                </a:solidFill>
              </a:rPr>
              <a:t>Thank You for Listening. </a:t>
            </a:r>
            <a:endParaRPr lang="en-NG" sz="8000" b="1" dirty="0">
              <a:solidFill>
                <a:srgbClr val="1223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95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716</Words>
  <Application>Microsoft Office PowerPoint</Application>
  <PresentationFormat>Widescreen</PresentationFormat>
  <Paragraphs>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         Adidas Sales Performance Analysis</vt:lpstr>
      <vt:lpstr>Executive Summary</vt:lpstr>
      <vt:lpstr>Business Objectives</vt:lpstr>
      <vt:lpstr>KPI Overview</vt:lpstr>
      <vt:lpstr>Product Performance Analysis</vt:lpstr>
      <vt:lpstr>Insights</vt:lpstr>
      <vt:lpstr>Retailer Performance Analysis</vt:lpstr>
      <vt:lpstr>Insights</vt:lpstr>
      <vt:lpstr>Regional Performance Insights</vt:lpstr>
      <vt:lpstr>Sales Method Performance Insights</vt:lpstr>
      <vt:lpstr>Trend Analysis Insights</vt:lpstr>
      <vt:lpstr>Strategic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Taofeek Bakare</dc:creator>
  <cp:lastModifiedBy>Taofeek Bakare</cp:lastModifiedBy>
  <cp:revision>6</cp:revision>
  <dcterms:created xsi:type="dcterms:W3CDTF">2026-06-22T12:03:36Z</dcterms:created>
  <dcterms:modified xsi:type="dcterms:W3CDTF">2026-06-29T10:57:57Z</dcterms:modified>
</cp:coreProperties>
</file>